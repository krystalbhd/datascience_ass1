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003F31-A633-47EA-BB3B-C2C26B9AB83B}">
  <a:tblStyle styleId="{83003F31-A633-47EA-BB3B-C2C26B9AB8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/>
              <a:t>Charles Darwin University. S226 HIT140 Foundations of Data Science. Assessment 2. Sydney Group 19. Members: Krystal Bhandari, S401359; Shreya Khatri, S401646; Md Abid Hossain Fahim, S401478; Saykot Sarkar, S401744. Names and IDs supplied by the user. CDU logo and purple-and-gold design follow the supplied reference.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4362450" cy="6858000"/>
          </a:xfrm>
          <a:prstGeom prst="rect">
            <a:avLst/>
          </a:prstGeom>
          <a:solidFill>
            <a:srgbClr val="2116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571500" y="619125"/>
            <a:ext cx="3728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CHARLES DARWIN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571500" y="2238375"/>
            <a:ext cx="33147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Assessment 2</a:t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647700" y="4019550"/>
            <a:ext cx="1000125" cy="47625"/>
          </a:xfrm>
          <a:prstGeom prst="rect">
            <a:avLst/>
          </a:prstGeom>
          <a:solidFill>
            <a:srgbClr val="A17C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571500" y="4400550"/>
            <a:ext cx="37284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S226 HIT140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</a:t>
            </a:r>
            <a:r>
              <a:rPr lang="en-US"/>
              <a:t>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2100">
                <a:solidFill>
                  <a:srgbClr val="FFFFFF"/>
                </a:solidFill>
              </a:rPr>
              <a:t>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5000625" y="1638300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Sydney Group 19</a:t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5029200" y="22669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716580"/>
                </a:solidFill>
                <a:latin typeface="Arial"/>
                <a:ea typeface="Arial"/>
                <a:cs typeface="Arial"/>
                <a:sym typeface="Arial"/>
              </a:rPr>
              <a:t>Group members</a:t>
            </a:r>
            <a:endParaRPr/>
          </a:p>
        </p:txBody>
      </p:sp>
      <p:graphicFrame>
        <p:nvGraphicFramePr>
          <p:cNvPr id="25" name="Google Shape;25;p5"/>
          <p:cNvGraphicFramePr/>
          <p:nvPr/>
        </p:nvGraphicFramePr>
        <p:xfrm>
          <a:off x="5095875" y="290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{83003F31-A633-47EA-BB3B-C2C26B9AB83B}</a:tableStyleId>
              </a:tblPr>
              <a:tblGrid>
                <a:gridCol w="4352925"/>
                <a:gridCol w="1971675"/>
              </a:tblGrid>
              <a:tr h="52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116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11645"/>
                    </a:solidFill>
                  </a:tcPr>
                </a:tc>
              </a:tr>
              <a:tr h="52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Krystal Bhandari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S401359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1F8"/>
                    </a:solidFill>
                  </a:tcPr>
                </a:tc>
              </a:tr>
              <a:tr h="52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Shreya Khatri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S401646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 Abid Hossain Fahim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S401478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1F8"/>
                    </a:solidFill>
                  </a:tcPr>
                </a:tc>
              </a:tr>
              <a:tr h="52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Saykot Sarkar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1645"/>
                        </a:buClr>
                        <a:buSzPts val="1725"/>
                        <a:buFont typeface="Arial"/>
                        <a:buNone/>
                      </a:pPr>
                      <a:r>
                        <a:rPr b="0" lang="en-US" sz="1725">
                          <a:solidFill>
                            <a:srgbClr val="2116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S401744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ANALYTIC QUESTION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Why this question?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781050" y="1504950"/>
            <a:ext cx="10382250" cy="1371600"/>
          </a:xfrm>
          <a:prstGeom prst="roundRect">
            <a:avLst>
              <a:gd fmla="val 5556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1047750" y="1762125"/>
            <a:ext cx="97631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1" lang="en-US" sz="19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“Among teams that scored at least one goal, does the average percentage of team goals scored by a single leading scorer differ from 50%?”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790575" y="3286125"/>
            <a:ext cx="114300" cy="11430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1057275" y="3209925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What I measured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714750" y="3209925"/>
            <a:ext cx="7096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Leading scorer share (%) = 100 × leading scorer goals ÷ team GF.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790575" y="4114800"/>
            <a:ext cx="114300" cy="11430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1057275" y="4038600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What I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3714750" y="4038600"/>
            <a:ext cx="7096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The average team percentage against 50%, meaning one player scores half the goals.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790575" y="4943475"/>
            <a:ext cx="114300" cy="11430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057275" y="4867275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714750" y="4867275"/>
            <a:ext cx="7096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It measures scoring concentration, a distinct focus from points and defensive efficiency.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781050" y="5943600"/>
            <a:ext cx="1000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DATA WRANGLING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Preparing the team scoring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781050" y="1609725"/>
            <a:ext cx="3381375" cy="3381375"/>
          </a:xfrm>
          <a:prstGeom prst="roundRect">
            <a:avLst>
              <a:gd fmla="val 2254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038225" y="1866900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211645"/>
          </a:solidFill>
          <a:ln cap="flat" cmpd="sng" w="9525">
            <a:solidFill>
              <a:srgbClr val="2116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152525" y="1943100"/>
            <a:ext cx="285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1038225" y="2543175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Checked the raw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038225" y="31051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Cleaned whitespace and numeric types in Python.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Verified MP = W + D + L, GD = GF − GA, and Pts = 3W + 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All 48 rows passed these checks.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324350" y="1609725"/>
            <a:ext cx="3381375" cy="3381375"/>
          </a:xfrm>
          <a:prstGeom prst="roundRect">
            <a:avLst>
              <a:gd fmla="val 2254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81525" y="1866900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211645"/>
          </a:solidFill>
          <a:ln cap="flat" cmpd="sng" w="9525">
            <a:solidFill>
              <a:srgbClr val="2116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695825" y="1943100"/>
            <a:ext cx="285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581525" y="2543175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Extracted scorer goals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581525" y="31051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Parsed the final number in “Top Team Scorer”.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For tied scorers, used the shared individual tally.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Did not multiply by the number of names.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7867650" y="1609725"/>
            <a:ext cx="3381375" cy="3381375"/>
          </a:xfrm>
          <a:prstGeom prst="roundRect">
            <a:avLst>
              <a:gd fmla="val 2254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8124825" y="1866900"/>
            <a:ext cx="495300" cy="495300"/>
          </a:xfrm>
          <a:prstGeom prst="roundRect">
            <a:avLst>
              <a:gd fmla="val 15385" name="adj"/>
            </a:avLst>
          </a:prstGeom>
          <a:solidFill>
            <a:srgbClr val="211645"/>
          </a:solidFill>
          <a:ln cap="flat" cmpd="sng" w="9525">
            <a:solidFill>
              <a:srgbClr val="2116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239125" y="1943100"/>
            <a:ext cx="285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124825" y="2543175"/>
            <a:ext cx="2905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Calculated the percentage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124825" y="31051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Share = 100 × scorer goals ÷ GF.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Excluded Panama: GF = 0 gives an undefined 0/0 share.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116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Retained 47 eligible teams.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81050" y="5476875"/>
            <a:ext cx="9810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3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DATA PREPARATION AND 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Population vs. sample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781050" y="1609725"/>
            <a:ext cx="5029200" cy="3533775"/>
          </a:xfrm>
          <a:prstGeom prst="roundRect">
            <a:avLst>
              <a:gd fmla="val 2156" name="adj"/>
            </a:avLst>
          </a:prstGeom>
          <a:solidFill>
            <a:srgbClr val="211645"/>
          </a:solidFill>
          <a:ln cap="flat" cmpd="sng" w="9525">
            <a:solidFill>
              <a:srgbClr val="2116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5991225" y="1609725"/>
            <a:ext cx="5267325" cy="3533775"/>
          </a:xfrm>
          <a:prstGeom prst="roundRect">
            <a:avLst>
              <a:gd fmla="val 2156" name="adj"/>
            </a:avLst>
          </a:prstGeom>
          <a:solidFill>
            <a:srgbClr val="FFFFFF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38225" y="18478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FINITE SAMPLING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038225" y="2200275"/>
            <a:ext cx="3905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038225" y="3505200"/>
            <a:ext cx="4333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Goal-scoring teams in the supplied 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original dataset contains 48 teams.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038225" y="4448175"/>
            <a:ext cx="4333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D8CEE7"/>
                </a:solidFill>
                <a:latin typeface="Arial"/>
                <a:ea typeface="Arial"/>
                <a:cs typeface="Arial"/>
                <a:sym typeface="Arial"/>
              </a:rPr>
              <a:t>All eligible records are available. Sampling demonstrates the assessment’s required technique.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267450" y="1847850"/>
            <a:ext cx="433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SIMPLE RANDOM SAMPLE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267450" y="2200275"/>
            <a:ext cx="4286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67450" y="3505200"/>
            <a:ext cx="4476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Without replacement, using seed 401478.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Each eligible team has equal selection probability.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267450" y="4448175"/>
            <a:ext cx="4476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Each team receives equal weight.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Sample size is practical, not a power guarantee.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81050" y="5619750"/>
            <a:ext cx="1028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Leading scorers contributed 43.35% on average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5" y="1944750"/>
            <a:ext cx="7210425" cy="259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115300" y="1638300"/>
            <a:ext cx="3171825" cy="1333500"/>
          </a:xfrm>
          <a:prstGeom prst="roundRect">
            <a:avLst>
              <a:gd fmla="val 5714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8305800" y="18192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SAMPLE 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305800" y="2143125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43.35%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305800" y="2695575"/>
            <a:ext cx="2762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Leading scorer share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115300" y="3143250"/>
            <a:ext cx="3171825" cy="1476375"/>
          </a:xfrm>
          <a:prstGeom prst="roundRect">
            <a:avLst>
              <a:gd fmla="val 5161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8305800" y="3324225"/>
            <a:ext cx="2762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SPREAD AND CENTRE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8305800" y="3695700"/>
            <a:ext cx="2762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Median: 40.00%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305800" y="4095750"/>
            <a:ext cx="276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SD: 20.22 percentage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Range: 16.67% to 100.00%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781050" y="5124450"/>
            <a:ext cx="9763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Q1 = 32.50%    Q3 = 50.00%    IQR = 17.50 percentage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781050" y="5619750"/>
            <a:ext cx="9763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The distribution has a right tail. A 100% share is valid when one player scored all the team’s goals.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4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CONFIDENCE INTERVAL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Estimating the mean leading scorer share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781050" y="1476375"/>
            <a:ext cx="10191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95% standard t confidence interval for the mean team percentage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037771"/>
            <a:ext cx="10287000" cy="266815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0"/>
          <p:cNvSpPr/>
          <p:nvPr/>
        </p:nvSpPr>
        <p:spPr>
          <a:xfrm>
            <a:off x="781050" y="5010150"/>
            <a:ext cx="10382250" cy="952500"/>
          </a:xfrm>
          <a:prstGeom prst="roundRect">
            <a:avLst>
              <a:gd fmla="val 8000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1047750" y="5219700"/>
            <a:ext cx="9763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36.51% to 50.20% includes the 50% benchmark.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The interval concerns the mean, not 95% of individual teams.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781050" y="6162675"/>
            <a:ext cx="10287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CI = mean ± t* × s/√n. SE = 3.3706 percentage points, df = 35. No finite-population correction.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0"/>
          <p:cNvPicPr preferRelativeResize="0"/>
          <p:nvPr/>
        </p:nvPicPr>
        <p:blipFill rotWithShape="1">
          <a:blip r:embed="rId4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ONE-SAMPLE T-TEST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Does the average differ from 50%?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81050" y="1695450"/>
            <a:ext cx="2543175" cy="2247900"/>
          </a:xfrm>
          <a:prstGeom prst="roundRect">
            <a:avLst>
              <a:gd fmla="val 3390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52500" y="187642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HYPOTHESES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52500" y="22860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μ₀ = 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52500" y="3009900"/>
            <a:ext cx="2190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H₀: μ = 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H₁: μ ≠ 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Two-sided, α = 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3438525" y="1695450"/>
            <a:ext cx="2543175" cy="2247900"/>
          </a:xfrm>
          <a:prstGeom prst="roundRect">
            <a:avLst>
              <a:gd fmla="val 3390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3609975" y="187642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T-STATISTIC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3609975" y="22860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−1.9721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3609975" y="3009900"/>
            <a:ext cx="2190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t = (mean − 50) / 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Degrees of freedom: 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096000" y="1695450"/>
            <a:ext cx="2543175" cy="2247900"/>
          </a:xfrm>
          <a:prstGeom prst="roundRect">
            <a:avLst>
              <a:gd fmla="val 3390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267450" y="187642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267450" y="22860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0.05654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6267450" y="3009900"/>
            <a:ext cx="2190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Above the preselected 0.05 significance level.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8753475" y="1695450"/>
            <a:ext cx="2543175" cy="2247900"/>
          </a:xfrm>
          <a:prstGeom prst="roundRect">
            <a:avLst>
              <a:gd fmla="val 3390" name="adj"/>
            </a:avLst>
          </a:prstGeom>
          <a:solidFill>
            <a:srgbClr val="FAF9FB"/>
          </a:solidFill>
          <a:ln cap="flat" cmpd="sng" w="9525">
            <a:solidFill>
              <a:srgbClr val="DE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924925" y="1876425"/>
            <a:ext cx="2181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EFFECT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924925" y="2286000"/>
            <a:ext cx="2181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d = −0.329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8924925" y="3009900"/>
            <a:ext cx="2190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Mean difference: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−6.65 percentage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Relative to the benchmark.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781050" y="4210050"/>
            <a:ext cx="10382250" cy="1485900"/>
          </a:xfrm>
          <a:prstGeom prst="roundRect">
            <a:avLst>
              <a:gd fmla="val 5128" name="adj"/>
            </a:avLst>
          </a:prstGeom>
          <a:solidFill>
            <a:srgbClr val="211645"/>
          </a:solidFill>
          <a:ln cap="flat" cmpd="sng" w="9525">
            <a:solidFill>
              <a:srgbClr val="2116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047750" y="4410075"/>
            <a:ext cx="9715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Decision: fail to reject H₀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047750" y="4895850"/>
            <a:ext cx="97155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 the standard t-test assumptions, the sample provides insufficient evidence that the mean differs from 50% at the 5% level.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781050" y="5981700"/>
            <a:ext cx="1019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96571"/>
                </a:solidFill>
                <a:latin typeface="Arial"/>
                <a:ea typeface="Arial"/>
                <a:cs typeface="Arial"/>
                <a:sym typeface="Arial"/>
              </a:rPr>
              <a:t>This does not prove equality. Levene’s test is unnecessary for a one-sample t-test.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 b="78276" l="87320" r="0" t="0"/>
          <a:stretch/>
        </p:blipFill>
        <p:spPr>
          <a:xfrm>
            <a:off x="10629900" y="0"/>
            <a:ext cx="1562100" cy="149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64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/>
          <p:nvPr/>
        </p:nvSpPr>
        <p:spPr>
          <a:xfrm>
            <a:off x="514350" y="514350"/>
            <a:ext cx="628650" cy="6286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85800" y="647700"/>
            <a:ext cx="323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1164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381125" y="190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17C15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1381125" y="666750"/>
            <a:ext cx="895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clear model-based difference at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704850" y="65341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8CEE7"/>
                </a:solidFill>
                <a:latin typeface="Arial"/>
                <a:ea typeface="Arial"/>
                <a:cs typeface="Arial"/>
                <a:sym typeface="Arial"/>
              </a:rPr>
              <a:t>MD Abid Hossain Fahim   s401478   S226 HIT140 Foundation of Data Science   Sydney Group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71525" y="2219325"/>
            <a:ext cx="95250" cy="952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1047750" y="2124075"/>
            <a:ext cx="381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sample mean is 43.35%. The standard t-test gives p = 0.05654.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771525" y="3362325"/>
            <a:ext cx="95250" cy="952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047750" y="3267075"/>
            <a:ext cx="381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known mean for all 47 eligible teams is 45.45%, descriptively below 50%.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771525" y="4505325"/>
            <a:ext cx="95250" cy="95250"/>
          </a:xfrm>
          <a:prstGeom prst="ellipse">
            <a:avLst/>
          </a:prstGeom>
          <a:solidFill>
            <a:srgbClr val="A17C15"/>
          </a:solidFill>
          <a:ln cap="flat" cmpd="sng" w="9525">
            <a:solidFill>
              <a:srgbClr val="A17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047750" y="4410075"/>
            <a:ext cx="381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Skewness, the finite frame and shared opponents limit the inference.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7775" y="2117537"/>
            <a:ext cx="6419850" cy="31468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/>
          <p:nvPr/>
        </p:nvSpPr>
        <p:spPr>
          <a:xfrm>
            <a:off x="781050" y="5753100"/>
            <a:ext cx="10382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D8CEE7"/>
                </a:solidFill>
                <a:latin typeface="Arial"/>
                <a:ea typeface="Arial"/>
                <a:cs typeface="Arial"/>
                <a:sym typeface="Arial"/>
              </a:rPr>
              <a:t>The full-frame mean is already known. The t-test illustrates a working model and cannot establish causation or generalise reliably to other tournaments.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